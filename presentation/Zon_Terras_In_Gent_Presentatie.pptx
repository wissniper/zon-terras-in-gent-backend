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91" r:id="rId17"/>
    <p:sldId id="273" r:id="rId18"/>
    <p:sldId id="292" r:id="rId19"/>
    <p:sldId id="290" r:id="rId20"/>
    <p:sldId id="274" r:id="rId21"/>
    <p:sldId id="275" r:id="rId22"/>
    <p:sldId id="276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81582"/>
  </p:normalViewPr>
  <p:slideViewPr>
    <p:cSldViewPr snapToGrid="0" snapToObjects="1">
      <p:cViewPr varScale="1">
        <p:scale>
          <a:sx n="168" d="100"/>
          <a:sy n="168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83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5C02-84BA-DDAF-6732-AFF8F6E5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526E9-D738-9041-8AAD-3C3D8534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9EF09-159E-9CDA-550C-E9D1F7156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87B05-EB07-EAD3-4DB2-B4B5D4E7F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31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533E-E342-8168-5B91-5E0D87CC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F5098-2A44-D421-40A3-F71568DC2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B0E55-3D36-E2E8-AADC-8B2B633B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951AD-AE5B-DA8F-B801-5E3B4EEE80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56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829F-00C7-F6B2-2E8A-BCA49510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82F80-1DD6-3442-2E1A-AD49945D5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9177A-9F72-B8EB-59A0-A2F5DB13F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88F69-307E-5C02-5076-43B2E873B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76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24688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771525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4400" b="1" kern="0" spc="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</a:t>
            </a:r>
            <a:endParaRPr lang="nl-NL" sz="4400" noProof="1"/>
          </a:p>
        </p:txBody>
      </p:sp>
      <p:sp>
        <p:nvSpPr>
          <p:cNvPr id="5" name="Text 3"/>
          <p:cNvSpPr/>
          <p:nvPr/>
        </p:nvSpPr>
        <p:spPr>
          <a:xfrm>
            <a:off x="457200" y="169735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800" i="1" noProof="1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 Sun-Seeker: Zonoverzicht voor Gentse Terrassen</a:t>
            </a:r>
            <a:endParaRPr lang="nl-NL" sz="1800" noProof="1"/>
          </a:p>
        </p:txBody>
      </p:sp>
      <p:sp>
        <p:nvSpPr>
          <p:cNvPr id="6" name="Text 4"/>
          <p:cNvSpPr/>
          <p:nvPr/>
        </p:nvSpPr>
        <p:spPr>
          <a:xfrm>
            <a:off x="457200" y="27260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6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Webdevelopment Project - Voortgangsrapport</a:t>
            </a:r>
            <a:endParaRPr lang="nl-NL" sz="1600" noProof="1"/>
          </a:p>
        </p:txBody>
      </p:sp>
      <p:sp>
        <p:nvSpPr>
          <p:cNvPr id="7" name="Text 5"/>
          <p:cNvSpPr/>
          <p:nvPr/>
        </p:nvSpPr>
        <p:spPr>
          <a:xfrm>
            <a:off x="457200" y="3497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Ononiba  &amp;  Yoanna Oosterlinck</a:t>
            </a:r>
            <a:endParaRPr lang="nl-NL" sz="1600" noProof="1"/>
          </a:p>
        </p:txBody>
      </p:sp>
      <p:sp>
        <p:nvSpPr>
          <p:cNvPr id="8" name="Text 6"/>
          <p:cNvSpPr/>
          <p:nvPr/>
        </p:nvSpPr>
        <p:spPr>
          <a:xfrm>
            <a:off x="457200" y="401193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Universiteit Gent  |  Academiejaar 2025-2026  |  15 Maart 2026</a:t>
            </a:r>
            <a:endParaRPr lang="nl-NL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de presentatie</a:t>
            </a:r>
            <a:endParaRPr lang="nl-NL" sz="1200" noProof="1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222244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nl-NL" sz="1400" noProof="1"/>
          </a:p>
        </p:txBody>
      </p:sp>
      <p:sp>
        <p:nvSpPr>
          <p:cNvPr id="9" name="Text 7"/>
          <p:cNvSpPr/>
          <p:nvPr/>
        </p:nvSpPr>
        <p:spPr>
          <a:xfrm>
            <a:off x="2103120" y="13716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 &amp; Project Visie</a:t>
            </a:r>
            <a:endParaRPr lang="nl-NL" sz="1400" noProof="1"/>
          </a:p>
        </p:txBody>
      </p:sp>
      <p:sp>
        <p:nvSpPr>
          <p:cNvPr id="10" name="Shape 8"/>
          <p:cNvSpPr/>
          <p:nvPr/>
        </p:nvSpPr>
        <p:spPr>
          <a:xfrm>
            <a:off x="1371600" y="1874520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2A2A4A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nl-NL" sz="1400" noProof="1"/>
          </a:p>
        </p:txBody>
      </p:sp>
      <p:sp>
        <p:nvSpPr>
          <p:cNvPr id="12" name="Text 10"/>
          <p:cNvSpPr/>
          <p:nvPr/>
        </p:nvSpPr>
        <p:spPr>
          <a:xfrm>
            <a:off x="2103120" y="1874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Architectuur</a:t>
            </a:r>
            <a:endParaRPr lang="nl-NL" sz="1400" noProof="1"/>
          </a:p>
        </p:txBody>
      </p:sp>
      <p:sp>
        <p:nvSpPr>
          <p:cNvPr id="13" name="Shape 11"/>
          <p:cNvSpPr/>
          <p:nvPr/>
        </p:nvSpPr>
        <p:spPr>
          <a:xfrm>
            <a:off x="1371600" y="2377440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222244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nl-NL" sz="1400" noProof="1"/>
          </a:p>
        </p:txBody>
      </p:sp>
      <p:sp>
        <p:nvSpPr>
          <p:cNvPr id="15" name="Text 13"/>
          <p:cNvSpPr/>
          <p:nvPr/>
        </p:nvSpPr>
        <p:spPr>
          <a:xfrm>
            <a:off x="2103120" y="2377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Hebben Bereikt</a:t>
            </a:r>
            <a:endParaRPr lang="nl-NL" sz="1400" noProof="1"/>
          </a:p>
        </p:txBody>
      </p:sp>
      <p:sp>
        <p:nvSpPr>
          <p:cNvPr id="16" name="Shape 14"/>
          <p:cNvSpPr/>
          <p:nvPr/>
        </p:nvSpPr>
        <p:spPr>
          <a:xfrm>
            <a:off x="1371600" y="2880360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2A2A4A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17" name="Text 15"/>
          <p:cNvSpPr/>
          <p:nvPr/>
        </p:nvSpPr>
        <p:spPr>
          <a:xfrm>
            <a:off x="1554480" y="2880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nl-NL" sz="1400" noProof="1"/>
          </a:p>
        </p:txBody>
      </p:sp>
      <p:sp>
        <p:nvSpPr>
          <p:cNvPr id="18" name="Text 16"/>
          <p:cNvSpPr/>
          <p:nvPr/>
        </p:nvSpPr>
        <p:spPr>
          <a:xfrm>
            <a:off x="2103120" y="2880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Diepgang</a:t>
            </a:r>
            <a:endParaRPr lang="nl-NL" sz="1400" noProof="1"/>
          </a:p>
        </p:txBody>
      </p:sp>
      <p:sp>
        <p:nvSpPr>
          <p:cNvPr id="19" name="Shape 17"/>
          <p:cNvSpPr/>
          <p:nvPr/>
        </p:nvSpPr>
        <p:spPr>
          <a:xfrm>
            <a:off x="1371600" y="3383280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222244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20" name="Text 18"/>
          <p:cNvSpPr/>
          <p:nvPr/>
        </p:nvSpPr>
        <p:spPr>
          <a:xfrm>
            <a:off x="1554480" y="33832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nl-NL" sz="1400" noProof="1"/>
          </a:p>
        </p:txBody>
      </p:sp>
      <p:sp>
        <p:nvSpPr>
          <p:cNvPr id="22" name="Shape 20"/>
          <p:cNvSpPr/>
          <p:nvPr/>
        </p:nvSpPr>
        <p:spPr>
          <a:xfrm>
            <a:off x="1371600" y="3886200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2A2A4A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23" name="Text 21"/>
          <p:cNvSpPr/>
          <p:nvPr/>
        </p:nvSpPr>
        <p:spPr>
          <a:xfrm>
            <a:off x="1554480" y="38862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nl-NL" sz="1400" noProof="1"/>
          </a:p>
        </p:txBody>
      </p:sp>
      <p:sp>
        <p:nvSpPr>
          <p:cNvPr id="24" name="Text 22"/>
          <p:cNvSpPr/>
          <p:nvPr/>
        </p:nvSpPr>
        <p:spPr>
          <a:xfrm>
            <a:off x="2103120" y="33909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Stappen</a:t>
            </a:r>
            <a:endParaRPr lang="nl-NL" sz="1400" noProof="1"/>
          </a:p>
        </p:txBody>
      </p:sp>
      <p:sp>
        <p:nvSpPr>
          <p:cNvPr id="27" name="Text 25"/>
          <p:cNvSpPr/>
          <p:nvPr/>
        </p:nvSpPr>
        <p:spPr>
          <a:xfrm>
            <a:off x="2103120" y="38862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 &amp; Vragen</a:t>
            </a:r>
            <a:endParaRPr lang="nl-NL" sz="14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Visie &amp; Doelstellingen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Zon Terras In Gent?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Probleemstelling: In Gent is een zonnig terras vinden lastig. Kleine verschuivingen in zonpositie maken het verschil tussen zon of schaduw door kerktorens en gebouwen.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Terras Sun-Seeker toont real-time welke Gentse cafeterrassen zonnig zijn via lichtintensiteit en kleurcodes (geel = zon, blauw = schaduw).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doelgroep: Studenten (zonnig cafe tijdens pauze), remote workers (schaduwrijke terrassen bij hoge temperaturen), en fotografen (golden hour notificaties).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Value: Combinatie van real-time zonpositie, 3D-schaduwmodellering, weerdata en toeristische evenementen op een interactieve kaart.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Student bij Korenmarkt zoekt zonnig cafe tijdens pauze.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Remote worker zoekt schaduwrijk terras bij hittegolf.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3: Fotograaf wil golden hour notificaties voor terrassen.</a:t>
            </a:r>
            <a:endParaRPr lang="nl-NL" sz="13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vs. Out of scope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nl-NL" sz="1400" noProof="1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met content negotiation (JSON + HTML)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zonpositie berekeningen (SunCalc3)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Weerdata integratie (Open-Meteo API)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Terras/Restaurant/Event data (Overpass + Stad Gent)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operaties voor alle entiteiten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Geospatiale queries (MongoDB 2dsphere)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Hypermedia links (HATEOAS) in alle responses</a:t>
            </a:r>
          </a:p>
          <a:p>
            <a:pPr marL="800100" lvl="1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HATEOAS: Hypermedia as the Engine of Application State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Pug views voor HTML representaties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validatie middleware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pattern met cascade</a:t>
            </a:r>
            <a:endParaRPr lang="nl-NL" sz="1150" noProof="1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nl-NL" sz="1400" noProof="1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(gepland, nog niet gestart)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API Data Integriteit Testing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WebSocket/Socket.io real-time updates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shadow raycasting (Three.js)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authenticatie / autorisatie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kaart met: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schaduw-simulator</a:t>
            </a:r>
          </a:p>
          <a:p>
            <a:pPr marL="800100" lvl="1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Heatmap</a:t>
            </a:r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18288" cy="3474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8345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|  Webdevelopment Project  |  Slide 5</a:t>
            </a:r>
            <a:endParaRPr lang="nl-NL" sz="800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Shape 2"/>
          <p:cNvSpPr/>
          <p:nvPr/>
        </p:nvSpPr>
        <p:spPr>
          <a:xfrm>
            <a:off x="0" y="216027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</a:t>
            </a:r>
            <a:endParaRPr lang="nl-NL" sz="3600" noProof="1"/>
          </a:p>
        </p:txBody>
      </p:sp>
      <p:sp>
        <p:nvSpPr>
          <p:cNvPr id="6" name="Text 4"/>
          <p:cNvSpPr/>
          <p:nvPr/>
        </p:nvSpPr>
        <p:spPr>
          <a:xfrm>
            <a:off x="457200" y="26746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Architectuur</a:t>
            </a:r>
            <a:endParaRPr lang="nl-NL" sz="1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Overview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technologie stack</a:t>
            </a:r>
            <a:endParaRPr lang="nl-NL" sz="1200" noProof="1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011680" cy="2360295"/>
          </a:xfrm>
          <a:prstGeom prst="roundRect">
            <a:avLst>
              <a:gd name="adj" fmla="val 4545"/>
            </a:avLst>
          </a:prstGeom>
          <a:solidFill>
            <a:srgbClr val="222244"/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nl-NL" sz="1300" noProof="1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1463040" cy="1828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 5.9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5.2.1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9.2.1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Pug 3.0.3 (templating)</a:t>
            </a:r>
            <a:endParaRPr lang="nl-NL" sz="1100" noProof="1"/>
          </a:p>
        </p:txBody>
      </p:sp>
      <p:sp>
        <p:nvSpPr>
          <p:cNvPr id="11" name="Shape 9"/>
          <p:cNvSpPr/>
          <p:nvPr/>
        </p:nvSpPr>
        <p:spPr>
          <a:xfrm>
            <a:off x="2514600" y="1280160"/>
            <a:ext cx="2011680" cy="2360295"/>
          </a:xfrm>
          <a:prstGeom prst="roundRect">
            <a:avLst>
              <a:gd name="adj" fmla="val 4545"/>
            </a:avLst>
          </a:prstGeom>
          <a:solidFill>
            <a:srgbClr val="222244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2" name="Text 10"/>
          <p:cNvSpPr/>
          <p:nvPr/>
        </p:nvSpPr>
        <p:spPr>
          <a:xfrm>
            <a:off x="251460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nl-NL" sz="1300" noProof="1"/>
          </a:p>
        </p:txBody>
      </p:sp>
      <p:sp>
        <p:nvSpPr>
          <p:cNvPr id="13" name="Shape 11"/>
          <p:cNvSpPr/>
          <p:nvPr/>
        </p:nvSpPr>
        <p:spPr>
          <a:xfrm>
            <a:off x="2788920" y="1783080"/>
            <a:ext cx="1463040" cy="18288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2dsphere indexes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Points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refs</a:t>
            </a:r>
            <a:endParaRPr lang="nl-NL" sz="1100" noProof="1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2011680" cy="2360295"/>
          </a:xfrm>
          <a:prstGeom prst="roundRect">
            <a:avLst>
              <a:gd name="adj" fmla="val 4545"/>
            </a:avLst>
          </a:prstGeom>
          <a:solidFill>
            <a:srgbClr val="222244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6" name="Text 14"/>
          <p:cNvSpPr/>
          <p:nvPr/>
        </p:nvSpPr>
        <p:spPr>
          <a:xfrm>
            <a:off x="470916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API'S</a:t>
            </a:r>
            <a:endParaRPr lang="nl-NL" sz="1300" noProof="1"/>
          </a:p>
        </p:txBody>
      </p:sp>
      <p:sp>
        <p:nvSpPr>
          <p:cNvPr id="17" name="Shape 15"/>
          <p:cNvSpPr/>
          <p:nvPr/>
        </p:nvSpPr>
        <p:spPr>
          <a:xfrm>
            <a:off x="4983480" y="1783080"/>
            <a:ext cx="1463040" cy="182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(weer)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(OSM)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 Gent API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SunCalc3 (zon)</a:t>
            </a:r>
            <a:endParaRPr lang="nl-NL" sz="1100" noProof="1"/>
          </a:p>
        </p:txBody>
      </p:sp>
      <p:sp>
        <p:nvSpPr>
          <p:cNvPr id="19" name="Shape 17"/>
          <p:cNvSpPr/>
          <p:nvPr/>
        </p:nvSpPr>
        <p:spPr>
          <a:xfrm>
            <a:off x="6903720" y="1280160"/>
            <a:ext cx="2011680" cy="2360295"/>
          </a:xfrm>
          <a:prstGeom prst="roundRect">
            <a:avLst>
              <a:gd name="adj" fmla="val 4545"/>
            </a:avLst>
          </a:prstGeom>
          <a:solidFill>
            <a:srgbClr val="222244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20" name="Text 18"/>
          <p:cNvSpPr/>
          <p:nvPr/>
        </p:nvSpPr>
        <p:spPr>
          <a:xfrm>
            <a:off x="69037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nl-NL" sz="1300" noProof="1"/>
          </a:p>
        </p:txBody>
      </p:sp>
      <p:sp>
        <p:nvSpPr>
          <p:cNvPr id="21" name="Shape 19"/>
          <p:cNvSpPr/>
          <p:nvPr/>
        </p:nvSpPr>
        <p:spPr>
          <a:xfrm>
            <a:off x="7178040" y="1783080"/>
            <a:ext cx="1463040" cy="1828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22" name="Text 20"/>
          <p:cNvSpPr/>
          <p:nvPr/>
        </p:nvSpPr>
        <p:spPr>
          <a:xfrm>
            <a:off x="7040880" y="192024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(scheduling)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 (dev)</a:t>
            </a:r>
            <a:endParaRPr lang="nl-NL" sz="1100" noProof="1"/>
          </a:p>
          <a:p>
            <a:pPr marL="0" indent="0">
              <a:lnSpc>
                <a:spcPct val="140000"/>
              </a:lnSpc>
              <a:buNone/>
            </a:pPr>
            <a:r>
              <a:rPr lang="nl-NL" sz="11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ts-node</a:t>
            </a:r>
            <a:endParaRPr lang="nl-NL" sz="1100" noProof="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2620604-5F03-43C4-BE14-EA86C1263453}"/>
              </a:ext>
            </a:extLst>
          </p:cNvPr>
          <p:cNvSpPr/>
          <p:nvPr/>
        </p:nvSpPr>
        <p:spPr>
          <a:xfrm>
            <a:off x="320040" y="3896488"/>
            <a:ext cx="8595360" cy="77724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noProof="1">
                <a:solidFill>
                  <a:schemeClr val="bg1"/>
                </a:solidFill>
              </a:rPr>
              <a:t>Polymorphe refs</a:t>
            </a:r>
            <a:r>
              <a:rPr lang="nl-NL" sz="1400" noProof="1">
                <a:solidFill>
                  <a:schemeClr val="bg1"/>
                </a:solidFill>
              </a:rPr>
              <a:t>: SunData verwijst dynamisch naar Terras, Restaurant of Event via locationType`</a:t>
            </a:r>
          </a:p>
          <a:p>
            <a:pPr algn="ctr"/>
            <a:r>
              <a:rPr lang="nl-NL" sz="1400" b="1" noProof="1">
                <a:solidFill>
                  <a:schemeClr val="bg1"/>
                </a:solidFill>
              </a:rPr>
              <a:t>express-validator</a:t>
            </a:r>
            <a:r>
              <a:rPr lang="nl-NL" sz="1400" noProof="1">
                <a:solidFill>
                  <a:schemeClr val="bg1"/>
                </a:solidFill>
              </a:rPr>
              <a:t>: valideert user input in route-handlers (coordinaten, MongoDB IDs, datums, enums)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Architectuur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TypeScript + MVC patroon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(REST)</a:t>
            </a:r>
            <a:endParaRPr lang="nl-NL" sz="1400" noProof="1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route groepen: /api/terrasen, /api/restaurants, /api/events, /api/sun, /api/weather, /api/search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CRUD: GET, POST, PUT, PATCH, DELETE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negotiation: JSON + HTML via Accept header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HATEOAS: hypermedia links in alle responses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(REST): geen sessies, elk verzoek onafhankelijk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delete: isDeleted flag + deletedAt timestamp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delete: SunData verwijderd bij entiteit delete</a:t>
            </a:r>
            <a:endParaRPr lang="nl-NL" sz="1150" noProof="1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STRUCTUUR</a:t>
            </a:r>
            <a:endParaRPr lang="nl-NL" sz="1400" noProof="1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Mongoose schemas met validatie en indexes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Pug templates gegroepeerd per entiteit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Controllers: Factory pattern (baseController.ts)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Aparte bestanden per resource type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Input validatie (express-validator)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Externe API integraties + data fetchers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Geautomatiseerde data sync en cache updates</a:t>
            </a:r>
            <a:endParaRPr lang="nl-NL" sz="1150" noProof="1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18288" cy="3474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met Mongoose ODM - 5 Collections</a:t>
            </a:r>
            <a:endParaRPr lang="nl-NL" sz="1200" noProof="1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272021"/>
              </p:ext>
            </p:extLst>
          </p:nvPr>
        </p:nvGraphicFramePr>
        <p:xfrm>
          <a:off x="274320" y="1280160"/>
          <a:ext cx="8595360" cy="1524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Velden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b="1" noProof="1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address, identifier (OSM), location (GeoJSON), intensity (0-100), isDeleted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2dsphere, intensity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b="1" noProof="1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address, cuisine, rating (0-5), phone, website, location, intensity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2dsphere, rating+intensity, name+cuisine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b="1" noProof="1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address, date_start, date_end, description, url, location, intensity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2dsphere, date_start+date_end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b="1" noProof="1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timestamp, temperature, cloudCover, cloudFactor, uvIndex, windspeed, location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timestamp, 2dsphere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b="1" noProof="1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SunData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locationRef (locationRef (ObjectId -&gt; Terras/Restaurant/Event)), locationType, dateTime, intensity, azimuth, altitude, goldenHour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unique(ref+type+time)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i="1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Kenmerken: GeoJSON Points voor locatie | 2dsphere indexes | Polymorphe referenties | Soft delete pattern</a:t>
            </a:r>
            <a:endParaRPr lang="nl-NL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DevOps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configuratie en server setup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HUIDIGE SETUP</a:t>
            </a:r>
            <a:endParaRPr lang="nl-NL" sz="1400" noProof="1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via UGent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 + MongoDB lokaal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certificaat via Let's Encrypt (HTTPS)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-&gt; HTTPS redirect geconfigureerd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Statische assets caching (1 uur) via NGINX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variabelen via .env.example bestand</a:t>
            </a:r>
            <a:endParaRPr lang="nl-NL" sz="1150" noProof="1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GEPLANDE VERBETERINGEN</a:t>
            </a:r>
            <a:endParaRPr lang="nl-NL" sz="1400" noProof="1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voor deployment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backups (mongodump)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nl-NL" sz="1150" noProof="1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18288" cy="3474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8345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|  Webdevelopment Project  |  Slide 10</a:t>
            </a:r>
            <a:endParaRPr lang="nl-NL" sz="800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Shape 2"/>
          <p:cNvSpPr/>
          <p:nvPr/>
        </p:nvSpPr>
        <p:spPr>
          <a:xfrm>
            <a:off x="0" y="216027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</a:t>
            </a:r>
            <a:endParaRPr lang="nl-NL" sz="3600" noProof="1"/>
          </a:p>
        </p:txBody>
      </p:sp>
      <p:sp>
        <p:nvSpPr>
          <p:cNvPr id="6" name="Text 4"/>
          <p:cNvSpPr/>
          <p:nvPr/>
        </p:nvSpPr>
        <p:spPr>
          <a:xfrm>
            <a:off x="457200" y="26746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Hebben Bereikt</a:t>
            </a:r>
            <a:endParaRPr lang="nl-NL" sz="18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Overview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Projectvoortgang in cijfers</a:t>
            </a:r>
            <a:endParaRPr lang="nl-NL" sz="1200" noProof="1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22244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nl-NL" sz="3600" noProof="1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Gesloten</a:t>
            </a:r>
            <a:endParaRPr lang="nl-NL" sz="1300" noProof="1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84 totaal (58%)</a:t>
            </a:r>
            <a:endParaRPr lang="nl-NL" sz="1000" noProof="1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22244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nl-NL" sz="3600" noProof="1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nl-NL" sz="1300" noProof="1"/>
          </a:p>
        </p:txBody>
      </p:sp>
      <p:sp>
        <p:nvSpPr>
          <p:cNvPr id="14" name="Text 12"/>
          <p:cNvSpPr/>
          <p:nvPr/>
        </p:nvSpPr>
        <p:spPr>
          <a:xfrm>
            <a:off x="256032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actieve development</a:t>
            </a:r>
            <a:endParaRPr lang="nl-NL" sz="1000" noProof="1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22244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nl-NL" sz="3600" noProof="1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nl-NL" sz="1300" noProof="1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&amp; Yoanna</a:t>
            </a:r>
            <a:endParaRPr lang="nl-NL" sz="1000" noProof="1"/>
          </a:p>
        </p:txBody>
      </p:sp>
      <p:sp>
        <p:nvSpPr>
          <p:cNvPr id="19" name="Shape 17"/>
          <p:cNvSpPr/>
          <p:nvPr/>
        </p:nvSpPr>
        <p:spPr>
          <a:xfrm>
            <a:off x="6949440" y="1371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22244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20" name="Text 18"/>
          <p:cNvSpPr/>
          <p:nvPr/>
        </p:nvSpPr>
        <p:spPr>
          <a:xfrm>
            <a:off x="6949440" y="1508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nl-NL" sz="3600" noProof="1"/>
          </a:p>
        </p:txBody>
      </p:sp>
      <p:sp>
        <p:nvSpPr>
          <p:cNvPr id="21" name="Text 19"/>
          <p:cNvSpPr/>
          <p:nvPr/>
        </p:nvSpPr>
        <p:spPr>
          <a:xfrm>
            <a:off x="69494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3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nl-NL" sz="1300" noProof="1"/>
          </a:p>
        </p:txBody>
      </p:sp>
      <p:sp>
        <p:nvSpPr>
          <p:cNvPr id="22" name="Text 20"/>
          <p:cNvSpPr/>
          <p:nvPr/>
        </p:nvSpPr>
        <p:spPr>
          <a:xfrm>
            <a:off x="6949440" y="2560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nl-NL" sz="1000" noProof="1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Voortgang: 50 / 86 issues (58%)</a:t>
            </a:r>
            <a:endParaRPr lang="nl-NL" sz="1200" noProof="1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1E1E3A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4773168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4773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nl-NL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Achievements - Features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geimplementeerde backend features met issue referenties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CRUD voor Terrassen (#87, #47, #46, #9, #8) - GET/POST/PUT/PATCH/DELETE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CRUD voor Restaurants (#88, #50, #49, #48, #40) - inclusief rating systeem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CRUD voor Events (#89, #56, #55, #54, #39) - met datum filtering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Position Endpoints (#16, #59, #58, #57, #37) - real-time zonpositie berekeningen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 (#17, #53, #52, #51, #38) - Open-Meteo API integratie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Endpoints (#18) - gecombineerde queries over meerdere entiteiten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Controller (#32) - full-text search, intensity filters, geospatiale radius zoekopdrachten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Terras Data (#100) - automatische sync via Overpass API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Restaurant Data (#14) - Overpass API restaurant sync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Tourist Events (#13) - Stad Gent API event sync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Weather Data (#12) - Open-Meteo cron job</a:t>
            </a:r>
            <a:endParaRPr lang="nl-NL" sz="13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Achievements - Technisch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Architecturele en technische implementaties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indexing voor alle modellen (#41-#45) - 2dsphere, compound, unique indexes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Pattern: baseController.ts genereert CRUD handlers, elimineert code duplicatie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 (#90) - automatische JSON/HTML response op basis van Accept header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Hypermedia Links (#91, #97) - zowel JSON als HTML responses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Middleware (#92) - express-validator voor coords, IDs, datums, enums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Cron Job (#81) - geautomatiseerde 15-min weather cache met grid-based optimalisatie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Pattern - isDeleted flag + deletedAt timestamp + cascade naar SunData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Polymorphe Referenties - SunData koppelt aan Terras/Restaurant/Event via locationType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Wrapper - retry logic (3 attempts, 30s backoff) voor 429/504 errors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Update Script (#34) - geautomatiseerd deployment na git pull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Configuration (#33) - reverse proxy, SSL, caching</a:t>
            </a:r>
            <a:endParaRPr lang="nl-NL" sz="13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Achievements - Pug Views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rendered HTML views (#80)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PAGINA'S</a:t>
            </a:r>
            <a:endParaRPr lang="nl-NL" sz="1400" noProof="1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Homepage: API welkomstpagina met navigatie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 Lijst: overzicht met zonscore en adres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Terras Detail: individuele terras informatie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Lijst: overzicht met ratings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Detail: cuisine, contact, openingsuren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Lijst: huidige en toekomstige evenementen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Detail: datum range, locatie, beschrijving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Data Display: positie, altitude, golden hours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Batch: bulk zonberekeningen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pagina: gebruikersvriendelijke foutmeldingen</a:t>
            </a:r>
            <a:endParaRPr lang="nl-NL" sz="11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8345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|  Webdevelopment Project  |  Slide 17</a:t>
            </a:r>
            <a:endParaRPr lang="nl-NL" sz="800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Shape 2"/>
          <p:cNvSpPr/>
          <p:nvPr/>
        </p:nvSpPr>
        <p:spPr>
          <a:xfrm>
            <a:off x="0" y="216027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</a:t>
            </a:r>
            <a:endParaRPr lang="nl-NL" sz="3600" noProof="1"/>
          </a:p>
        </p:txBody>
      </p:sp>
      <p:sp>
        <p:nvSpPr>
          <p:cNvPr id="6" name="Text 4"/>
          <p:cNvSpPr/>
          <p:nvPr/>
        </p:nvSpPr>
        <p:spPr>
          <a:xfrm>
            <a:off x="457200" y="26746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Diepgang</a:t>
            </a:r>
            <a:endParaRPr lang="nl-NL" sz="1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8229-1B75-455D-6650-1B784734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85B5CC-28BB-5E52-7703-A22FF5D5D0B9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0ADB98-98A4-AD8B-3EB7-B8463ECEF868}"/>
              </a:ext>
            </a:extLst>
          </p:cNvPr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81BF73-D4F3-C455-D41D-EE74EA87FEB4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Technische Uitdagingen</a:t>
            </a:r>
            <a:endParaRPr lang="nl-NL" sz="2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B8E060-8B56-A093-88D3-D27BB188D4CD}"/>
              </a:ext>
            </a:extLst>
          </p:cNvPr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problemen en hun oplossingen</a:t>
            </a:r>
            <a:endParaRPr lang="nl-NL" sz="1200" noProof="1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D70536-FA89-563B-1BD4-22459E375F17}"/>
              </a:ext>
            </a:extLst>
          </p:cNvPr>
          <p:cNvSpPr/>
          <p:nvPr/>
        </p:nvSpPr>
        <p:spPr>
          <a:xfrm>
            <a:off x="274320" y="1234440"/>
            <a:ext cx="8595360" cy="1097280"/>
          </a:xfrm>
          <a:prstGeom prst="roundRect">
            <a:avLst>
              <a:gd name="adj" fmla="val 4167"/>
            </a:avLst>
          </a:prstGeom>
          <a:solidFill>
            <a:srgbClr val="222244"/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C12AC3-CD46-08DF-ACC9-F504F02BB0C2}"/>
              </a:ext>
            </a:extLst>
          </p:cNvPr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Geospatiale Queries &amp; Performance</a:t>
            </a:r>
            <a:endParaRPr lang="nl-NL" sz="1200" noProof="1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6D137F-1A27-9E14-54D2-8BF7B56E2647}"/>
              </a:ext>
            </a:extLst>
          </p:cNvPr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Zoeken naar terrassen/restaurants binnen een radius vereist complexe geospatiale berekeningen op grote datasets.</a:t>
            </a:r>
            <a:endParaRPr lang="nl-NL" sz="1000" noProof="1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00AE38-B90B-6098-4421-DA920B437757}"/>
              </a:ext>
            </a:extLst>
          </p:cNvPr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MongoDB 2dsphere indexes + $geoNear aggregation pipeline + grid-based coordinate grouping (3 decimalen ~ 111m) om weather API calls te batcheren.</a:t>
            </a:r>
            <a:endParaRPr lang="nl-NL" sz="1000" noProof="1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3259CF8-A2BE-00CA-4FA9-7EEB7EAF008D}"/>
              </a:ext>
            </a:extLst>
          </p:cNvPr>
          <p:cNvSpPr/>
          <p:nvPr/>
        </p:nvSpPr>
        <p:spPr>
          <a:xfrm>
            <a:off x="274320" y="2468880"/>
            <a:ext cx="8595360" cy="1097280"/>
          </a:xfrm>
          <a:prstGeom prst="roundRect">
            <a:avLst>
              <a:gd name="adj" fmla="val 4167"/>
            </a:avLst>
          </a:prstGeom>
          <a:solidFill>
            <a:srgbClr val="222244"/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FEEAA0E-A980-CACE-3295-65FE784E6D88}"/>
              </a:ext>
            </a:extLst>
          </p:cNvPr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Real-time Zonintensiteit Berekening</a:t>
            </a:r>
            <a:endParaRPr lang="nl-NL" sz="1200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780C80-49BB-CB5D-2CCC-7C104F6591D1}"/>
              </a:ext>
            </a:extLst>
          </p:cNvPr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Combinatie van astronomische zonpositie en bewolking tot een bruikbare intensiteitswaarde (0-100).</a:t>
            </a:r>
            <a:endParaRPr lang="nl-NL" sz="1000" noProof="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14CFA0B-98A4-B6D5-306D-C478D0F26630}"/>
              </a:ext>
            </a:extLst>
          </p:cNvPr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SunCalc3 voor altitude/azimuth + Open-Meteo cloudCover * 0.8 factor + hourly caching in SunData collectie met polymorphe referenties.</a:t>
            </a:r>
            <a:endParaRPr lang="nl-NL" sz="1000" noProof="1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FBE7724-2E0E-7193-79A6-F68386C416A2}"/>
              </a:ext>
            </a:extLst>
          </p:cNvPr>
          <p:cNvSpPr/>
          <p:nvPr/>
        </p:nvSpPr>
        <p:spPr>
          <a:xfrm>
            <a:off x="274320" y="3703320"/>
            <a:ext cx="8595360" cy="1097280"/>
          </a:xfrm>
          <a:prstGeom prst="roundRect">
            <a:avLst>
              <a:gd name="adj" fmla="val 4167"/>
            </a:avLst>
          </a:prstGeom>
          <a:solidFill>
            <a:srgbClr val="222244"/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A925CBE-75F2-C1DC-5EE7-B031C4543FD9}"/>
              </a:ext>
            </a:extLst>
          </p:cNvPr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Content Negotiation met Hypermedia</a:t>
            </a:r>
            <a:endParaRPr lang="nl-NL" sz="1200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2308C3-889F-14A9-AE08-E31DC7CBBED2}"/>
              </a:ext>
            </a:extLst>
          </p:cNvPr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Dezelfde endpoints moeten zowel bruikbare HTML (met navigatie) als machine-readable JSON serveren.</a:t>
            </a:r>
            <a:endParaRPr lang="nl-NL" sz="1000" noProof="1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0F04774-B423-49F4-6075-DF119FED91D1}"/>
              </a:ext>
            </a:extLst>
          </p:cNvPr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Accept header parsing in controllers + factory pattern dat automatisch links genereert + Pug templates voor HTML + JSON links array.</a:t>
            </a:r>
            <a:endParaRPr lang="nl-NL" sz="1000" noProof="1"/>
          </a:p>
        </p:txBody>
      </p:sp>
    </p:spTree>
    <p:extLst>
      <p:ext uri="{BB962C8B-B14F-4D97-AF65-F5344CB8AC3E}">
        <p14:creationId xmlns:p14="http://schemas.microsoft.com/office/powerpoint/2010/main" val="1502001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Technische Uitdagingen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problemen en hun oplossingen</a:t>
            </a:r>
            <a:endParaRPr lang="nl-NL" sz="1200" noProof="1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605784"/>
          </a:xfrm>
          <a:prstGeom prst="roundRect">
            <a:avLst>
              <a:gd name="adj" fmla="val 4167"/>
            </a:avLst>
          </a:prstGeom>
          <a:solidFill>
            <a:srgbClr val="222244"/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Geospatiale Queries &amp; Performance</a:t>
            </a:r>
            <a:endParaRPr lang="nl-NL" sz="1200" noProof="1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51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  Gebruikers willen terrassen/restaurants vinden binnen een bepaalde radius (bijv. 500m). MongoDB moet voor elke query de afstand berekenen tussen de gebruiker en honderden locaties met coordinaten.</a:t>
            </a:r>
          </a:p>
          <a:p>
            <a:pPr marL="0" indent="0">
              <a:buNone/>
            </a:pPr>
            <a:endParaRPr lang="nl-NL" sz="1000" noProof="1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1915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2dsphere Index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- 2dsphere index op location veld (GeoJSON Point) in elke collectie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$geoNear Aggregation Pipeline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Eerste stage: filtert én sorteert op afstand in één enkele query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Coordinate Grouping (weatherCron.ts)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Lat/lng afronden op 3 decimalen (~111m nauwkeurigheid)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Locaties in hetzelfde grid-vakje delen dezelfde weather API call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77493-DD51-2195-964D-125056C2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D4C8B3-A2C7-56F6-D897-5FF88F918826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B99BB8-A61F-F277-C6D2-6E1B03099195}"/>
              </a:ext>
            </a:extLst>
          </p:cNvPr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BC4916-7B72-8F69-BEC4-7B836668EE8F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Technische Uitdagingen</a:t>
            </a:r>
            <a:endParaRPr lang="nl-NL" sz="2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816929-48A5-FAB1-93F0-04876CEF8D6F}"/>
              </a:ext>
            </a:extLst>
          </p:cNvPr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problemen en hun oplossingen</a:t>
            </a:r>
            <a:endParaRPr lang="nl-NL" sz="1200" noProof="1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1BA914-A4C4-5437-B60B-7766D2FA14E7}"/>
              </a:ext>
            </a:extLst>
          </p:cNvPr>
          <p:cNvSpPr/>
          <p:nvPr/>
        </p:nvSpPr>
        <p:spPr>
          <a:xfrm>
            <a:off x="274320" y="1261872"/>
            <a:ext cx="8595360" cy="3599688"/>
          </a:xfrm>
          <a:prstGeom prst="roundRect">
            <a:avLst>
              <a:gd name="adj" fmla="val 4167"/>
            </a:avLst>
          </a:prstGeom>
          <a:solidFill>
            <a:srgbClr val="222244"/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D3F9710-6518-4370-7EA6-F26529BED046}"/>
              </a:ext>
            </a:extLst>
          </p:cNvPr>
          <p:cNvSpPr/>
          <p:nvPr/>
        </p:nvSpPr>
        <p:spPr>
          <a:xfrm>
            <a:off x="457200" y="1307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Real-time Zonintensiteit Berekening</a:t>
            </a:r>
            <a:endParaRPr lang="nl-NL" sz="1200" noProof="1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62C2C9-293F-7114-7C56-1BE1617F6F95}"/>
              </a:ext>
            </a:extLst>
          </p:cNvPr>
          <p:cNvSpPr/>
          <p:nvPr/>
        </p:nvSpPr>
        <p:spPr>
          <a:xfrm>
            <a:off x="457200" y="1581912"/>
            <a:ext cx="8229600" cy="643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intensiteitswaarde (0-100) per locatie moet twee bronnen combineren: de astronomische zonpositie (hoek van de zon boven de horizon) en de actuele bewolking. Beide veranderen continu. </a:t>
            </a:r>
          </a:p>
          <a:p>
            <a:pPr marL="0" indent="0">
              <a:buNone/>
            </a:pPr>
            <a:endParaRPr lang="nl-NL" sz="1000" noProof="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51E7EB9-1C22-B354-97D7-6484FDC35917}"/>
              </a:ext>
            </a:extLst>
          </p:cNvPr>
          <p:cNvSpPr/>
          <p:nvPr/>
        </p:nvSpPr>
        <p:spPr>
          <a:xfrm>
            <a:off x="457200" y="2114550"/>
            <a:ext cx="8778240" cy="2747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SunCalc3 library: Berekent altitude (hoek boven horizon, in radialen) en azimuth (kompasrichting) op basis van lat/lng/tijd  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Basis-intensiteit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`basisIntensiteit = altitude &gt; 0 ? Math.sin(altitude) * 100 : 0` 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Sinus van de hoogte geeft realistische lichtsterkte (lager bij lage zon, maximum bij 90°)  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factor correctie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Open-Meteo levert `cloudCover` (0–100%) 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Omgerekend naar `cloudFactor = cloudCover * 0.8` 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Reduceert de intensiteit proportioneel  (bv 50% bewolking = 40% reductive)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Eindformule:  `intensity = basisIntensiteit * (1 - cloudFactor / 100)`  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&amp; caching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Golden hour tijden (`dawnStart`, `dawnEnd`, `duskStart`, `duskEnd`) worden opgeslagen voor fotografen 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Resultaat per uur gecached in `SunData` collectie met unieke compound index op `(locationRef + locationType + dateTime)` zodat dezelfde berekening niet wordt herhaald</a:t>
            </a:r>
          </a:p>
        </p:txBody>
      </p:sp>
    </p:spTree>
    <p:extLst>
      <p:ext uri="{BB962C8B-B14F-4D97-AF65-F5344CB8AC3E}">
        <p14:creationId xmlns:p14="http://schemas.microsoft.com/office/powerpoint/2010/main" val="1997151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26D3-6656-65C8-6040-EB4823B5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C34988-8CBD-8672-F31E-357D6F1FA927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1315FC-3881-FEB9-743E-61CEBC7EEA14}"/>
              </a:ext>
            </a:extLst>
          </p:cNvPr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AA946D-F5B7-0CE0-2E82-B3CC7F9516B8}"/>
              </a:ext>
            </a:extLst>
          </p:cNvPr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Technische Uitdagingen</a:t>
            </a:r>
            <a:endParaRPr lang="nl-NL" sz="2400" noProof="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A203CA-6B83-0B49-67BF-C337220EAD9D}"/>
              </a:ext>
            </a:extLst>
          </p:cNvPr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problemen en hun oplossingen</a:t>
            </a:r>
            <a:endParaRPr lang="nl-NL" sz="1200" noProof="1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E280A22-A41D-1BE7-026D-C86E41660A7E}"/>
              </a:ext>
            </a:extLst>
          </p:cNvPr>
          <p:cNvSpPr/>
          <p:nvPr/>
        </p:nvSpPr>
        <p:spPr>
          <a:xfrm>
            <a:off x="274320" y="1261872"/>
            <a:ext cx="8595360" cy="3607308"/>
          </a:xfrm>
          <a:prstGeom prst="roundRect">
            <a:avLst>
              <a:gd name="adj" fmla="val 4167"/>
            </a:avLst>
          </a:prstGeom>
          <a:solidFill>
            <a:srgbClr val="222244"/>
          </a:solidFill>
          <a:ln w="63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nl-NL" noProof="1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7E756FE-222C-99B0-E567-EF14AD7F6125}"/>
              </a:ext>
            </a:extLst>
          </p:cNvPr>
          <p:cNvSpPr/>
          <p:nvPr/>
        </p:nvSpPr>
        <p:spPr>
          <a:xfrm>
            <a:off x="457200" y="1307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Content Negotiation met Hypermedia</a:t>
            </a:r>
            <a:endParaRPr lang="nl-NL" sz="1200" noProof="1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6931339-75D9-BAEA-0C6C-C8FCE57CD3ED}"/>
              </a:ext>
            </a:extLst>
          </p:cNvPr>
          <p:cNvSpPr/>
          <p:nvPr/>
        </p:nvSpPr>
        <p:spPr>
          <a:xfrm>
            <a:off x="457200" y="1682496"/>
            <a:ext cx="8229600" cy="550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Probleem: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Volgens de REST architecturale stijl moet dezelfde URL zowel HTML voor browsers als JSON voor machines serveren. Beide representaties moeten navigeerbare links bevatten (HATEOAS), maar in een ander formaat. 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7E2717-5758-B1CF-9FDB-028AD0E5E853}"/>
              </a:ext>
            </a:extLst>
          </p:cNvPr>
          <p:cNvSpPr/>
          <p:nvPr/>
        </p:nvSpPr>
        <p:spPr>
          <a:xfrm>
            <a:off x="457200" y="2287524"/>
            <a:ext cx="4114800" cy="2452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Oplossing: 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detectie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Controller checkt `req.accepts(['json', 'html'])` om gewenst formaat te bepalen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Bevat `links` array met `{ rel, href, method }` objecten 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Voorbeeld: `{ rel: "self", href: "/api/terrasen/abc123", method: "GET" }`  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`{ rel: "collection", href: "/api/terrasen", method: "GET" }`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271EC661-985B-DBBC-CE5B-8C6B57CC94CF}"/>
              </a:ext>
            </a:extLst>
          </p:cNvPr>
          <p:cNvSpPr/>
          <p:nvPr/>
        </p:nvSpPr>
        <p:spPr>
          <a:xfrm>
            <a:off x="4572000" y="2287524"/>
            <a:ext cx="4114800" cy="2452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Response 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Pug template rendert dezelfde data met `&lt;a href="..."&gt;` tags  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Inclusief navigatie-elementen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baseController factory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Genereert automatisch juiste links per entiteit type  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Nieuwe entiteiten krijgen direct correcte hypermedia controls</a:t>
            </a:r>
          </a:p>
          <a:p>
            <a:pPr marL="0" indent="0">
              <a:buNone/>
            </a:pPr>
            <a:endParaRPr lang="nl-NL" sz="1000" noProof="1">
              <a:solidFill>
                <a:srgbClr val="27AE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errors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Content-negotiated responses:  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JSON: object met `errors` array  </a:t>
            </a:r>
          </a:p>
          <a:p>
            <a:pPr marL="0" indent="0">
              <a:buNone/>
            </a:pPr>
            <a:r>
              <a:rPr lang="nl-NL" sz="1000" noProof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  HTML: error pagina</a:t>
            </a: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B2BC4DD6-DF05-6D5D-737F-8BFCBDC8D993}"/>
              </a:ext>
            </a:extLst>
          </p:cNvPr>
          <p:cNvSpPr/>
          <p:nvPr/>
        </p:nvSpPr>
        <p:spPr>
          <a:xfrm flipH="1">
            <a:off x="4453125" y="2571750"/>
            <a:ext cx="45719" cy="196215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</p:spTree>
    <p:extLst>
      <p:ext uri="{BB962C8B-B14F-4D97-AF65-F5344CB8AC3E}">
        <p14:creationId xmlns:p14="http://schemas.microsoft.com/office/powerpoint/2010/main" val="947011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Best Practices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en architecturale keuzes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nl-NL" sz="1400" noProof="1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Pattern: baseController genereert CRUD handlers automatisch - voorkomt code duplicatie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Architecture: strikte scheiding Model-View-Controller met aparte routes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Pattern: isDeleted + deletedAt vlag voor data behoud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Polymorphe Referenties: SunData koppelt aan elk entity type via discriminator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Layer: externe API calls afgezonderd in services/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Pattern: validatie als herbruikbare middleware chains</a:t>
            </a:r>
            <a:endParaRPr lang="nl-NL" sz="1150" noProof="1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nl-NL" sz="1400" noProof="1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type-safe code met interfaces en strict mode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gevoelige data in .env (niet in code)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try-catch + content-negotiated error responses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Principes: correct HTTP methode gebruik (GET/POST/PUT/PATCH/DELETE)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Workflow: feature branches + merge via pull requests</a:t>
            </a:r>
            <a:endParaRPr lang="nl-NL" sz="1150" noProof="1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18288" cy="3474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Implementaties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Beveiligingsmaatregelen in de applicatie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Validatie: express-validator voor alle user input (coordinaten, IDs, datums, enums)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ObjectId Validatie: voorkomt NoSQL injection via ongeldig ID formaat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database URI, API URLs en PORT niet hardcoded in broncode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Proxy: Node.js niet direct blootgesteld aan publiek internet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SSL/TLS: Let's Encrypt certificaat voor HTTPS encryptie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-&gt; HTTPS Redirect: alle verkeer geforceerd over encryptie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Validatie: NGINX geeft 404 voor onbekende hostnames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Delete: data wordt niet fysiek verwijderd, voorkomt accidenteel dataverlies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API: geen sessie-opslag, conformeert aan REST principe</a:t>
            </a:r>
            <a:endParaRPr lang="nl-NL" sz="13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Optimalisatie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Strategieen voor snelle en efficiente data verwerking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Indexing: 2dsphere indexes voor geospatiale queries, compound indexes voor sortering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Weather Batching: rondt coordinaten af op 3 decimalen (~111m) om API calls te reduceren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Cache: 15-minuten TTL voorkomt herhaalde externe API calls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SunData Hourly Cache: zonberekeningen per uur gecached, niet per request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Unique Indexes: SunData (locationRef + locationType + dateTime) voorkomt dubbele entries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Soft Delete: isDeleted filter in alle GET queries via Mongoose pre-hooks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Static Caching: assets gecached voor 1 uur, vermindert server belasting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Sun Endpoint: meerdere locaties in een enkele API call verwerkt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Scheduling: achtergrond jobs voor data sync zonder API request overhead</a:t>
            </a:r>
            <a:endParaRPr lang="nl-NL" sz="13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8345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|  Webdevelopment Project  |  Slide 25</a:t>
            </a:r>
            <a:endParaRPr lang="nl-NL" sz="800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Shape 2"/>
          <p:cNvSpPr/>
          <p:nvPr/>
        </p:nvSpPr>
        <p:spPr>
          <a:xfrm>
            <a:off x="0" y="216027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</a:t>
            </a:r>
            <a:endParaRPr lang="nl-NL" sz="3600" noProof="1"/>
          </a:p>
        </p:txBody>
      </p:sp>
      <p:sp>
        <p:nvSpPr>
          <p:cNvPr id="6" name="Text 4"/>
          <p:cNvSpPr/>
          <p:nvPr/>
        </p:nvSpPr>
        <p:spPr>
          <a:xfrm>
            <a:off x="457200" y="26746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Stappen</a:t>
            </a:r>
            <a:endParaRPr lang="nl-NL" sz="18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Analyse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open issues - gecategoriseerd naar prioriteit</a:t>
            </a:r>
            <a:endParaRPr lang="nl-NL" sz="1200" noProof="1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725858"/>
              </p:ext>
            </p:extLst>
          </p:nvPr>
        </p:nvGraphicFramePr>
        <p:xfrm>
          <a:off x="457200" y="1280160"/>
          <a:ext cx="6614160" cy="1478280"/>
        </p:xfrm>
        <a:graphic>
          <a:graphicData uri="http://schemas.openxmlformats.org/drawingml/2006/table">
            <a:tbl>
              <a:tblPr/>
              <a:tblGrid>
                <a:gridCol w="538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1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nl-NL" sz="11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1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</a:t>
                      </a:r>
                      <a:endParaRPr lang="nl-NL" sz="11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(12 issues)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000" b="1" noProof="1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Frontend (10 issues)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000" b="1" noProof="1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Seeding Scripts (3 issues)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000" b="1" noProof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WebSocket/Real-time (2 issues)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000" b="1" noProof="1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Shadow Rendering (2 issues)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000" b="1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Targets - Must Have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Prioriteit 1 features voor de volgende fase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Setup for tests - Jest/Vitest configuratie, test database, test utilities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#67-#70 Model Tests - Schema validatie, indexes en constraints voor Terras, Restaurant, Event, SunData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#71 GeoSpatial Query Tests - verificatie van 2dsphere queries en $geoNear pipelines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#72-#76 Controller Logic Tests - unit tests voor alle controller functies per entiteit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#77 Connection &amp; Error Handling Tests - database connectie en error flow validatie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#82 React Frontend Setup - Vite + TypeScript + React + Leaflet + TanStack Query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 Leaflet Map - interactieve kaart met terras/restaurant/event markers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#84-#86 Data Seeding Scripts - CLI scripts voor terras, event, restaurant data import</a:t>
            </a:r>
            <a:endParaRPr lang="nl-NL" sz="13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Targets - Nice to Have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Prioriteit 2 features en toekomstige verbeteringen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#93, #94 WebSocket/Socket.io - real-time sun en weather updates naar frontend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 Shadow Rendering - leaflet-shadow-simulator integratie voor visuele schaduwweergave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 Future-Sun-Slider - SVG cirkeldiagram met uurlijkse zonintensiteit voorspelling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 Search &amp; Filters - frontend zoekfunctie op naam, zonscore, weercondities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 Asynchrone Communicatie - TanStack Query + Socket.io in React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 Weather Widgets - floating widget met UV-index, wind, temperatuur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 Legend &amp; Info - kaartlegende met kleurcodes en filteropties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#30 Client-side Optimalisaties - caching, lazy loading, skeleton screens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#31 Progressive Rendering - markers en heatmaps incrementeel laden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#83 3D Shadow Raycasting - Three.js server-side shadow berekeningen</a:t>
            </a:r>
            <a:endParaRPr lang="nl-NL" sz="1300" noProof="1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nl-NL" sz="13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 Fetch Gent 3D CSV - 3D gebouwdata voor schaduwmodellering</a:t>
            </a:r>
            <a:endParaRPr lang="nl-NL" sz="13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78345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Terras In Gent  |  Webdevelopment Project  |  Slide 30</a:t>
            </a:r>
            <a:endParaRPr lang="nl-NL" sz="800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Shape 2"/>
          <p:cNvSpPr/>
          <p:nvPr/>
        </p:nvSpPr>
        <p:spPr>
          <a:xfrm>
            <a:off x="0" y="216027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3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</a:t>
            </a:r>
            <a:endParaRPr lang="nl-NL" sz="3600" noProof="1"/>
          </a:p>
        </p:txBody>
      </p:sp>
      <p:sp>
        <p:nvSpPr>
          <p:cNvPr id="6" name="Text 4"/>
          <p:cNvSpPr/>
          <p:nvPr/>
        </p:nvSpPr>
        <p:spPr>
          <a:xfrm>
            <a:off x="457200" y="26746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8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nl-NL" sz="18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 op het development proces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GING GOED</a:t>
            </a:r>
            <a:endParaRPr lang="nl-NL" sz="1400" noProof="1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architectuur: content negotiation en HATEOAS correct geimplementeerd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Pattern: code duplicatie sterk verminderd via baseController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geospatiale features: krachtig voor locatie-gebaseerde queries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type safety heeft bugs in vroeg stadium voorkomen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API integratie: Open-Meteo + Overpass + Stad Gent soepel verlopen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workflow: 128 commits, feature branches, pull requests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tracking: duidelijke planning via GitHub Issues</a:t>
            </a:r>
            <a:endParaRPr lang="nl-NL" sz="1150" noProof="1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400" b="1" noProof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KAN BETER</a:t>
            </a:r>
            <a:endParaRPr lang="nl-NL" sz="1400" noProof="1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eerder starten: tests pas in fase 2 is een risico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Documentatie: API docs formaliseren (Swagger/OpenAPI)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meer gestructureerde error responses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geen health checks of logging framework</a:t>
            </a:r>
            <a:endParaRPr lang="nl-NL" sz="1150" noProof="1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nl-NL" sz="115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migrations: schema versioning ontbreekt</a:t>
            </a:r>
            <a:endParaRPr lang="nl-NL" sz="1150" noProof="1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18288" cy="3474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2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Mapping</a:t>
            </a:r>
            <a:endParaRPr lang="nl-NL" sz="2400" noProof="1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WEBDEV.html vereisten vs. onze implementatie</a:t>
            </a:r>
            <a:endParaRPr lang="nl-NL" sz="1200" noProof="1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138574"/>
              </p:ext>
            </p:extLst>
          </p:nvPr>
        </p:nvGraphicFramePr>
        <p:xfrm>
          <a:off x="182880" y="1188720"/>
          <a:ext cx="877824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Vereiste (WEBDEV.html)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10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1000" b="1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Implementatie Details</a:t>
                      </a:r>
                      <a:endParaRPr lang="nl-NL" sz="10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Gegevensmodellering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Mongoose schemas, validatie, indexes, relaties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Gegevensvalidatie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express-validator: coords, IDs, datums, enums (#92)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representaties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Pug templates per entiteit, layout, navigatie (#80)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representaties + links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HATEOAS links in alle JSON responses (#91, #97)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negotiation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header -&gt; JSON of HTML (#90)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principes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GET/POST/PUT/PATCH/DELETE, stateless, hypermedia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deployment + NGINX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+ NGINX + SSL + auto-start (#33, #34)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 (audioboeken)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isDeleted + deletedAt + cascade cleanup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20 commits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nl-NL" sz="900" b="1" noProof="1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l-NL" sz="900" noProof="1">
                          <a:solidFill>
                            <a:srgbClr val="A0A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commits over meerdere branches</a:t>
                      </a:r>
                      <a:endParaRPr lang="nl-NL" sz="900" noProof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6027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nl-NL" noProof="1"/>
          </a:p>
        </p:txBody>
      </p:sp>
      <p:sp>
        <p:nvSpPr>
          <p:cNvPr id="3" name="Text 1"/>
          <p:cNvSpPr/>
          <p:nvPr/>
        </p:nvSpPr>
        <p:spPr>
          <a:xfrm>
            <a:off x="0" y="92583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5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nl-NL" sz="5600" noProof="1"/>
          </a:p>
        </p:txBody>
      </p:sp>
      <p:sp>
        <p:nvSpPr>
          <p:cNvPr id="4" name="Text 2"/>
          <p:cNvSpPr/>
          <p:nvPr/>
        </p:nvSpPr>
        <p:spPr>
          <a:xfrm>
            <a:off x="0" y="26746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2200" i="1" noProof="1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Bedankt voor jullie aandacht!</a:t>
            </a:r>
            <a:endParaRPr lang="nl-NL" sz="2200" noProof="1"/>
          </a:p>
        </p:txBody>
      </p:sp>
      <p:sp>
        <p:nvSpPr>
          <p:cNvPr id="5" name="Text 3"/>
          <p:cNvSpPr/>
          <p:nvPr/>
        </p:nvSpPr>
        <p:spPr>
          <a:xfrm>
            <a:off x="0" y="334327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6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Ononiba  &amp;  Yoanna Oosterlinck</a:t>
            </a:r>
            <a:endParaRPr lang="nl-NL" sz="1600" noProof="1"/>
          </a:p>
        </p:txBody>
      </p:sp>
      <p:sp>
        <p:nvSpPr>
          <p:cNvPr id="6" name="Text 4"/>
          <p:cNvSpPr/>
          <p:nvPr/>
        </p:nvSpPr>
        <p:spPr>
          <a:xfrm>
            <a:off x="0" y="375475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200" noProof="1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Universiteit Gent  |  Webdevelopment  |  Maart 2026</a:t>
            </a:r>
            <a:endParaRPr lang="nl-NL" sz="1200" noProof="1"/>
          </a:p>
        </p:txBody>
      </p:sp>
      <p:sp>
        <p:nvSpPr>
          <p:cNvPr id="7" name="Text 5"/>
          <p:cNvSpPr/>
          <p:nvPr/>
        </p:nvSpPr>
        <p:spPr>
          <a:xfrm>
            <a:off x="0" y="421767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nl-NL" sz="1100" noProof="1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github.ugent.be/wononiba/Zon-Terras-In-Gent</a:t>
            </a:r>
            <a:endParaRPr lang="nl-NL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3061</Words>
  <Application>Microsoft Macintosh PowerPoint</Application>
  <PresentationFormat>On-screen Show (16:9)</PresentationFormat>
  <Paragraphs>430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Universiteit 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 Terras In Gent - Webdevelopment Project</dc:title>
  <dc:subject>Zon Terras In Gent - Voortgangsrapport</dc:subject>
  <dc:creator>Wisdom Ononiba &amp; Yoanna Oosterlinck</dc:creator>
  <cp:lastModifiedBy>Wisdom Ononiba</cp:lastModifiedBy>
  <cp:revision>4</cp:revision>
  <dcterms:created xsi:type="dcterms:W3CDTF">2026-03-15T09:31:55Z</dcterms:created>
  <dcterms:modified xsi:type="dcterms:W3CDTF">2026-03-15T20:55:46Z</dcterms:modified>
</cp:coreProperties>
</file>